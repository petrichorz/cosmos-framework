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开场先声明：本报告区分配置接口、设计意图与当前基础类的真实行为；结论以本地提交 ae9a530 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算法上最重要的判断：V2V 条件机制、时序 attention mask、训练噪声策略是三件事。不要把配置名 teacher_forcing 等同于完整 clean-history teacher forcing。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用三层图建立全篇词汇表。之后每个功能都问三个问题：帧是否 clean？能看到哪些帧？历史帧处于什么噪声状态？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强调索引作用在 latent frame，不是原始 pixel frame。Dataset 会把采样到的 num_cond 裁到 t_latent-1，保证至少保留一个待生成帧。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讲解顺序沿 training_step：text → plan → VAE clean latent → sigma → pack → pre-noise hook → add noise → memory → denoise → loss。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避免把推理侧视觉语言能力推广到这条训练链路。这里的 clean frame 不是 Reasoner 图像输入，而是 Generator 中的 VAE latent 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可用 V0 的四个 patch、V1 的四个 patch说明展平顺序。标准 non-causal 路径虽按时间排序，但 full attention 允许读取未来。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这一页说明 V2V 的训练本质：clean 与 noisy 共存于同一 packed sequence，差异由 metadata 和替换逻辑表达。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物理 token 顺序的核心变化主要出现在 action 与 vision 的逐帧交错；纯视觉场景仍近似 V0→V1→…，真正关键是 attention metadata。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下三角矩阵只说明可见性，不说明过去 frame 是否 clean。单帧 T=1 会退化为 dense；混合 T=1/T&gt;1 batch 会被拒绝。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对比表把四个维度放在一起：sigma shape、显式条件帧、clean-history memory、与 temporal causal 的关系。teacher_forcing_dcm 仅作为配置接受值，不扩展为本页主策略。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这一页是核心纠偏。代码注释提到子类覆盖，但当前基础训练路径不能仅凭 strategy=teacher_forcing 推断已有 clean KV cache。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用 2×2 决策矩阵回答常见误区：diffusion forcing 在 non-causal attention 下不是完整因果训练；temporal causal + teacher_forcing 也不等于 clean-history teacher forcing。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此页合并 Ascend 阻塞原因和路线，不单列阻塞链路页。指出延迟导入 Triton 或普通 SDPA fallback 不能替代当前 temporal-causal 变长多维 NATTEN backend。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Microsoft YaHei"/>
              </a:rPr>
              <a:t>收束到三问框架，并邀请讨论：目标是联合去噪式 V2V，还是严格逐帧 AR/causal generation？两者的工程成本和训练语义不同。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475488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COSMOS3 EDGE · ALGORITHM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7589520" cy="13533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3F7FB"/>
                </a:solidFill>
                <a:latin typeface="Microsoft YaHei"/>
              </a:rPr>
              <a:t>Cosmos3 Edge
V2V 与 Causal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743200"/>
            <a:ext cx="70866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9DB0C3"/>
                </a:solidFill>
                <a:latin typeface="Microsoft YaHei"/>
              </a:rPr>
              <a:t>从条件帧、序列打包到时序因果训练：以当前代码行为为准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794760"/>
            <a:ext cx="1188720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794760"/>
            <a:ext cx="1188720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776472"/>
            <a:ext cx="338328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F3F7FB"/>
                </a:solidFill>
                <a:latin typeface="Microsoft YaHei"/>
              </a:rPr>
              <a:t>哪些帧保持 clean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471416"/>
            <a:ext cx="1188720" cy="29260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471416"/>
            <a:ext cx="1188720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53128"/>
            <a:ext cx="338328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F3F7FB"/>
                </a:solidFill>
                <a:latin typeface="Microsoft YaHei"/>
              </a:rPr>
              <a:t>当前帧能看谁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148072"/>
            <a:ext cx="1188720" cy="292608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148072"/>
            <a:ext cx="1188720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5129784"/>
            <a:ext cx="338328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F3F7FB"/>
                </a:solidFill>
                <a:latin typeface="Microsoft YaHei"/>
              </a:rPr>
              <a:t>历史处于何种噪声状态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960120"/>
            <a:ext cx="3108960" cy="49834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96528" y="1417320"/>
            <a:ext cx="713232" cy="47548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6528" y="1417320"/>
            <a:ext cx="713232" cy="47548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9216" y="1481328"/>
            <a:ext cx="310896" cy="310896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49840" y="1481328"/>
            <a:ext cx="310896" cy="310896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70464" y="1481328"/>
            <a:ext cx="310896" cy="310896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62288" y="1920240"/>
            <a:ext cx="13716" cy="146303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96528" y="2167128"/>
            <a:ext cx="713232" cy="475488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96528" y="2167128"/>
            <a:ext cx="713232" cy="47548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29216" y="2231136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49840" y="2231136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570464" y="2231136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62288" y="2670048"/>
            <a:ext cx="13716" cy="146303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96528" y="2916936"/>
            <a:ext cx="713232" cy="475488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96528" y="2916936"/>
            <a:ext cx="713232" cy="47548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29216" y="2980944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49840" y="2980944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70464" y="2980944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62288" y="3419856"/>
            <a:ext cx="13716" cy="146303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96528" y="3666744"/>
            <a:ext cx="713232" cy="475488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96528" y="3666744"/>
            <a:ext cx="713232" cy="47548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29216" y="3730752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49840" y="3730752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570464" y="3730752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62288" y="4169664"/>
            <a:ext cx="13716" cy="146303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796528" y="4416552"/>
            <a:ext cx="713232" cy="475488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6528" y="4416552"/>
            <a:ext cx="713232" cy="47548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29216" y="4480560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149840" y="4480560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570464" y="4480560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5349240"/>
            <a:ext cx="2487168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V₀ clean  →  V₁…Vₜ generation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" y="6080760"/>
            <a:ext cx="214884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F3F7FB"/>
                </a:solidFill>
                <a:latin typeface="Microsoft YaHei"/>
              </a:rPr>
              <a:t>算法研发技术说明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6080760"/>
            <a:ext cx="288036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9DB0C3"/>
                </a:solidFill>
                <a:latin typeface="Microsoft YaHei"/>
              </a:rPr>
              <a:t>基线 ae9a530  · 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结论先行｜当前代码的能力边界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普通 V2V/I2V SFT 已形成闭环；严格逐帧 causal training 尚未闭环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600200"/>
            <a:ext cx="318211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1" y="1783080"/>
            <a:ext cx="107899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1" y="1783080"/>
            <a:ext cx="107899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KEY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2350008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31136"/>
            <a:ext cx="2487168" cy="902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能做：前缀 clean latent 条件 + 其余 latent 联合去噪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3252978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134106"/>
            <a:ext cx="2487168" cy="902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能做：CUDA/NATTEN 路径上的 temporal-causal 可见性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4155948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4037076"/>
            <a:ext cx="2487168" cy="902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未闭环：基础类 teacher_forcing 没有 clean-history memory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05088" y="5058918"/>
            <a:ext cx="109728" cy="109728"/>
          </a:xfrm>
          <a:prstGeom prst="rect">
            <a:avLst/>
          </a:prstGeom>
          <a:solidFill>
            <a:srgbClr val="FF5C78"/>
          </a:solidFill>
          <a:ln w="12700">
            <a:solidFill>
              <a:srgbClr val="FF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4940046"/>
            <a:ext cx="2487168" cy="902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Ascend 当前建议：two_way + non-causal + strategy=none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1600200"/>
            <a:ext cx="766267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1847088"/>
            <a:ext cx="950976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1847088"/>
            <a:ext cx="950976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CURRENT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2286000"/>
            <a:ext cx="329184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F3F7FB"/>
                </a:solidFill>
                <a:latin typeface="Microsoft YaHei"/>
              </a:rPr>
              <a:t>普通 V2V / I2V SFT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2907792"/>
            <a:ext cx="2048256" cy="530352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2907792"/>
            <a:ext cx="2048256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clean V₀…Vₖ₋₁</a:t>
            </a:r>
          </a:p>
        </p:txBody>
      </p:sp>
      <p:sp>
        <p:nvSpPr>
          <p:cNvPr id="25" name="Chevron 24"/>
          <p:cNvSpPr/>
          <p:nvPr/>
        </p:nvSpPr>
        <p:spPr>
          <a:xfrm>
            <a:off x="3026664" y="2999232"/>
            <a:ext cx="310896" cy="347472"/>
          </a:xfrm>
          <a:prstGeom prst="chevron">
            <a:avLst/>
          </a:prstGeom>
          <a:solidFill>
            <a:srgbClr val="9DB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74720" y="2907792"/>
            <a:ext cx="15727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907792"/>
            <a:ext cx="15727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joint denoise</a:t>
            </a:r>
          </a:p>
        </p:txBody>
      </p:sp>
      <p:sp>
        <p:nvSpPr>
          <p:cNvPr id="28" name="Chevron 27"/>
          <p:cNvSpPr/>
          <p:nvPr/>
        </p:nvSpPr>
        <p:spPr>
          <a:xfrm>
            <a:off x="5184648" y="2999232"/>
            <a:ext cx="310896" cy="347472"/>
          </a:xfrm>
          <a:prstGeom prst="chevron">
            <a:avLst/>
          </a:prstGeom>
          <a:solidFill>
            <a:srgbClr val="9DB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32704" y="2907792"/>
            <a:ext cx="1298448" cy="530352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32704" y="2907792"/>
            <a:ext cx="129844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flow loss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730752"/>
            <a:ext cx="7059167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" y="3968496"/>
            <a:ext cx="713232" cy="292608"/>
          </a:xfrm>
          <a:prstGeom prst="roundRect">
            <a:avLst/>
          </a:prstGeom>
          <a:solidFill>
            <a:srgbClr val="FF5C78"/>
          </a:solidFill>
          <a:ln w="12700">
            <a:solidFill>
              <a:srgbClr val="FF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3968496"/>
            <a:ext cx="71323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416552"/>
            <a:ext cx="3749039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1">
                <a:solidFill>
                  <a:srgbClr val="F3F7FB"/>
                </a:solidFill>
                <a:latin typeface="Microsoft YaHei"/>
              </a:rPr>
              <a:t>严格逐帧 causal training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" y="5056632"/>
            <a:ext cx="1554480" cy="530352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056632"/>
            <a:ext cx="1554480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(T,S) causal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05456" y="5065776"/>
            <a:ext cx="292608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9DB0C3"/>
                </a:solidFill>
                <a:latin typeface="Microsoft YaHei"/>
              </a:rPr>
              <a:t>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9504" y="5056632"/>
            <a:ext cx="1874519" cy="530352"/>
          </a:xfrm>
          <a:prstGeom prst="roundRect">
            <a:avLst/>
          </a:prstGeom>
          <a:solidFill>
            <a:srgbClr val="FF5C78"/>
          </a:solidFill>
          <a:ln w="12700">
            <a:solidFill>
              <a:srgbClr val="FF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9504" y="5056632"/>
            <a:ext cx="1874519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clean-history KV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5065776"/>
            <a:ext cx="2578608" cy="47548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F5C78"/>
                </a:solidFill>
                <a:latin typeface="Microsoft YaHei"/>
              </a:rPr>
              <a:t>尚未在 Ascend 基础路径闭环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cosmos_framework/data/generator/local_datasets/sft_dataset.py:348-359  ·  cosmos_framework/model/generator/omni_mot_model.py:768-800  ·  cosmos_framework/model/attention/natten/__init__.py:58-69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先拆开三个概念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条件帧决定 x₀ 是否保持 clean；causal attention 决定能看谁；strategy 决定如何加噪或建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600200"/>
            <a:ext cx="318211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1" y="1783080"/>
            <a:ext cx="107899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1" y="1783080"/>
            <a:ext cx="107899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KEY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2350008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3113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Conditioning：哪些 latent frame 的 σ_eff =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3553968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43509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Temporal causal：query frame 是否能读取未来 supertoken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4757928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463905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Training strategy：共享 σ、逐帧 σ，或预留的 memory 逻辑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645920"/>
            <a:ext cx="7589520" cy="1133856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1810512"/>
            <a:ext cx="566928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4D9C4"/>
                </a:solidFill>
                <a:latin typeface="Microsoft Ya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1783080"/>
            <a:ext cx="228600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4D9C4"/>
                </a:solidFill>
                <a:latin typeface="Microsoft YaHei"/>
              </a:rPr>
              <a:t>CONDITIONING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2130552"/>
            <a:ext cx="3127248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F3F7FB"/>
                </a:solidFill>
                <a:latin typeface="Microsoft YaHei"/>
              </a:rPr>
              <a:t>σ_eff = 0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1938528"/>
            <a:ext cx="2788920" cy="47548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9DB0C3"/>
                </a:solidFill>
                <a:latin typeface="Microsoft YaHei"/>
              </a:rPr>
              <a:t>决定帧是否 clean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072384"/>
            <a:ext cx="7589520" cy="1133856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236976"/>
            <a:ext cx="566928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8B7CFF"/>
                </a:solidFill>
                <a:latin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7904" y="3209544"/>
            <a:ext cx="228600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8B7CFF"/>
                </a:solidFill>
                <a:latin typeface="Microsoft YaHei"/>
              </a:rPr>
              <a:t>ATTENTION MASK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7904" y="3557016"/>
            <a:ext cx="3127248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F3F7FB"/>
                </a:solidFill>
                <a:latin typeface="Microsoft YaHei"/>
              </a:rPr>
              <a:t>qₜ → k₀…kₜ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364992"/>
            <a:ext cx="2788920" cy="47548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9DB0C3"/>
                </a:solidFill>
                <a:latin typeface="Microsoft YaHei"/>
              </a:rPr>
              <a:t>决定能看哪些帧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498848"/>
            <a:ext cx="7589520" cy="1133856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663440"/>
            <a:ext cx="566928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FF9F43"/>
                </a:solidFill>
                <a:latin typeface="Microsoft Ya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17904" y="4636008"/>
            <a:ext cx="228600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F9F43"/>
                </a:solidFill>
                <a:latin typeface="Microsoft YaHei"/>
              </a:rPr>
              <a:t>TRAINING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4983480"/>
            <a:ext cx="3127248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F3F7FB"/>
                </a:solidFill>
                <a:latin typeface="Microsoft YaHei"/>
              </a:rPr>
              <a:t>σ shared / per-frame / memory 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791456"/>
            <a:ext cx="2788920" cy="47548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0">
                <a:solidFill>
                  <a:srgbClr val="9DB0C3"/>
                </a:solidFill>
                <a:latin typeface="Microsoft YaHei"/>
              </a:rPr>
              <a:t>决定历史噪声与记忆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cosmos_framework/configs/base/defaults/model_config.py:224-238  ·  cosmos_framework/data/generator/sequence_packing/sequence.py:282-297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V2V / I2V：条件帧只是前缀索引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I2V 与 V2V 复用同一机制：差别只在 clean latent 前缀长度 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600200"/>
            <a:ext cx="318211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1" y="1783080"/>
            <a:ext cx="107899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1" y="1783080"/>
            <a:ext cx="107899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KEY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2350008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3113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[]：T2V，全部 latent frame 参与生成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3553968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43509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[0]：I2V，第 0 个 latent frame 保持 clean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4757928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463905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[0…k−1]：V2V，以前 k 个 latent frame 作为视频前缀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847088"/>
            <a:ext cx="658368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3F7FB"/>
                </a:solidFill>
                <a:latin typeface="Microsoft YaHei"/>
              </a:rPr>
              <a:t>T2V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1847088"/>
            <a:ext cx="932688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9DB0C3"/>
                </a:solidFill>
                <a:latin typeface="Microsoft YaHei"/>
              </a:rPr>
              <a:t>[]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95728" y="1755648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5728" y="1755648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54096" y="2011680"/>
            <a:ext cx="173735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55264" y="1755648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55264" y="1755648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13631" y="2011680"/>
            <a:ext cx="173736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0" y="1755648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1755648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73168" y="2011680"/>
            <a:ext cx="173736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74336" y="1755648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74336" y="1755648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32704" y="2011680"/>
            <a:ext cx="173735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33872" y="1755648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3872" y="1755648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011680"/>
            <a:ext cx="173735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93407" y="1755648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93407" y="1755648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14016" y="2359152"/>
            <a:ext cx="2423160" cy="2194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FF9F43"/>
                </a:solidFill>
                <a:latin typeface="Microsoft YaHei"/>
              </a:rPr>
              <a:t>all generation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191256"/>
            <a:ext cx="658368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3F7FB"/>
                </a:solidFill>
                <a:latin typeface="Microsoft YaHei"/>
              </a:rPr>
              <a:t>I2V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5024" y="3191256"/>
            <a:ext cx="932688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9DB0C3"/>
                </a:solidFill>
                <a:latin typeface="Microsoft YaHei"/>
              </a:rPr>
              <a:t>[0]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95728" y="3099815"/>
            <a:ext cx="658368" cy="530352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95728" y="3099815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54096" y="3355848"/>
            <a:ext cx="173735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255264" y="3099815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55264" y="3099815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13631" y="3355848"/>
            <a:ext cx="173736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14800" y="3099815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0" y="3099815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73168" y="3355848"/>
            <a:ext cx="173736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974336" y="3099815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74336" y="3099815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32704" y="3355848"/>
            <a:ext cx="173735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833872" y="3099815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33872" y="3099815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355848"/>
            <a:ext cx="173735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693407" y="3099815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93407" y="3099815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14016" y="3703320"/>
            <a:ext cx="2423160" cy="2194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4D9C4"/>
                </a:solidFill>
                <a:latin typeface="Microsoft YaHei"/>
              </a:rPr>
              <a:t>clean prefix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4535423"/>
            <a:ext cx="658368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3F7FB"/>
                </a:solidFill>
                <a:latin typeface="Microsoft YaHei"/>
              </a:rPr>
              <a:t>V2V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35024" y="4535423"/>
            <a:ext cx="932688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9DB0C3"/>
                </a:solidFill>
                <a:latin typeface="Microsoft YaHei"/>
              </a:rPr>
              <a:t>[0,1,2]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95728" y="4443983"/>
            <a:ext cx="658368" cy="530352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95728" y="4443983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54096" y="4700016"/>
            <a:ext cx="173735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255264" y="4443983"/>
            <a:ext cx="658368" cy="530352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55264" y="4443983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13631" y="4700016"/>
            <a:ext cx="173736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114800" y="4443983"/>
            <a:ext cx="658368" cy="530352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0" y="4443983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4700016"/>
            <a:ext cx="173736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974336" y="4443983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74336" y="4443983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32704" y="4700016"/>
            <a:ext cx="173735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833872" y="4443983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33872" y="4443983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92240" y="4700016"/>
            <a:ext cx="173735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693407" y="4443983"/>
            <a:ext cx="658368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93407" y="4443983"/>
            <a:ext cx="658368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414016" y="5047488"/>
            <a:ext cx="2423160" cy="2194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4D9C4"/>
                </a:solidFill>
                <a:latin typeface="Microsoft YaHei"/>
              </a:rPr>
              <a:t>clean prefix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95728" y="5806440"/>
            <a:ext cx="507492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9DB0C3"/>
                </a:solidFill>
                <a:latin typeface="Microsoft YaHei"/>
              </a:rPr>
              <a:t>索引作用于 VAE latent frame，而非原始 pixel frame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cosmos_framework/data/generator/local_datasets/sft_dataset.py:348-359  ·  cosmos_framework/data/generator/sequence_packing/types.py:317-336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训练主链路｜从 Dataset 到 flow-matching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condition index 贯穿 clean latent、packing metadata、加噪和 loss 索引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600200"/>
            <a:ext cx="318211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1" y="1783080"/>
            <a:ext cx="107899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1" y="1783080"/>
            <a:ext cx="107899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KEY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2350008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3113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Dataset 产出视频、文本 token 与 SequencePlan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3553968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43509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VAE 得到 clean x₀；packer 写入 mask / timestep / loss index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4757928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463905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只替换生成位置为 xₜ，随后 denoise 并监督 vₜ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627632"/>
            <a:ext cx="2103120" cy="1335024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1792224"/>
            <a:ext cx="402336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1792224"/>
            <a:ext cx="402336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148840"/>
            <a:ext cx="1755648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3F7FB"/>
                </a:solidFill>
                <a:latin typeface="Microsoft YaHei"/>
              </a:rPr>
              <a:t>SFTDataset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496312"/>
            <a:ext cx="17556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DB0C3"/>
                </a:solidFill>
                <a:latin typeface="Microsoft YaHei"/>
              </a:rPr>
              <a:t>video · text · plan</a:t>
            </a:r>
          </a:p>
        </p:txBody>
      </p:sp>
      <p:sp>
        <p:nvSpPr>
          <p:cNvPr id="22" name="Chevron 21"/>
          <p:cNvSpPr/>
          <p:nvPr/>
        </p:nvSpPr>
        <p:spPr>
          <a:xfrm>
            <a:off x="2770632" y="2112264"/>
            <a:ext cx="310896" cy="347472"/>
          </a:xfrm>
          <a:prstGeom prst="chevron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08960" y="1627632"/>
            <a:ext cx="2103120" cy="1335024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73552" y="1792224"/>
            <a:ext cx="402336" cy="29260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1792224"/>
            <a:ext cx="402336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2148840"/>
            <a:ext cx="1755648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3F7FB"/>
                </a:solidFill>
                <a:latin typeface="Microsoft YaHei"/>
              </a:rPr>
              <a:t>VAE /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2496312"/>
            <a:ext cx="17556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DB0C3"/>
                </a:solidFill>
                <a:latin typeface="Microsoft YaHei"/>
              </a:rPr>
              <a:t>clean x₀ · token ids</a:t>
            </a:r>
          </a:p>
        </p:txBody>
      </p:sp>
      <p:sp>
        <p:nvSpPr>
          <p:cNvPr id="28" name="Chevron 27"/>
          <p:cNvSpPr/>
          <p:nvPr/>
        </p:nvSpPr>
        <p:spPr>
          <a:xfrm>
            <a:off x="5312664" y="2112264"/>
            <a:ext cx="310896" cy="347472"/>
          </a:xfrm>
          <a:prstGeom prst="chevron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50992" y="1627632"/>
            <a:ext cx="2103120" cy="1335024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15583" y="1792224"/>
            <a:ext cx="402336" cy="292608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15583" y="1792224"/>
            <a:ext cx="402336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15583" y="2148840"/>
            <a:ext cx="1755648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3F7FB"/>
                </a:solidFill>
                <a:latin typeface="Microsoft YaHei"/>
              </a:rPr>
              <a:t>PACK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5583" y="2496312"/>
            <a:ext cx="17556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DB0C3"/>
                </a:solidFill>
                <a:latin typeface="Microsoft YaHei"/>
              </a:rPr>
              <a:t>mask · t · loss idx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584448"/>
            <a:ext cx="2103120" cy="1335024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3749039"/>
            <a:ext cx="402336" cy="292608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749039"/>
            <a:ext cx="402336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105656"/>
            <a:ext cx="1755648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3F7FB"/>
                </a:solidFill>
                <a:latin typeface="Microsoft YaHei"/>
              </a:rPr>
              <a:t>NOISE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453128"/>
            <a:ext cx="17556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DB0C3"/>
                </a:solidFill>
                <a:latin typeface="Microsoft YaHei"/>
              </a:rPr>
              <a:t>x₀ + ε + σ → xₜ</a:t>
            </a:r>
          </a:p>
        </p:txBody>
      </p:sp>
      <p:sp>
        <p:nvSpPr>
          <p:cNvPr id="39" name="Chevron 38"/>
          <p:cNvSpPr/>
          <p:nvPr/>
        </p:nvSpPr>
        <p:spPr>
          <a:xfrm>
            <a:off x="2770632" y="4069080"/>
            <a:ext cx="310896" cy="347472"/>
          </a:xfrm>
          <a:prstGeom prst="chevron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108960" y="3584448"/>
            <a:ext cx="2103120" cy="1335024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73552" y="3749039"/>
            <a:ext cx="402336" cy="29260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73552" y="3749039"/>
            <a:ext cx="402336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73552" y="4105656"/>
            <a:ext cx="1755648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3F7FB"/>
                </a:solidFill>
                <a:latin typeface="Microsoft YaHei"/>
              </a:rPr>
              <a:t>DENOISE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3552" y="4453128"/>
            <a:ext cx="17556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DB0C3"/>
                </a:solidFill>
                <a:latin typeface="Microsoft YaHei"/>
              </a:rPr>
              <a:t>Cosmos3VFMNetwork</a:t>
            </a:r>
          </a:p>
        </p:txBody>
      </p:sp>
      <p:sp>
        <p:nvSpPr>
          <p:cNvPr id="45" name="Chevron 44"/>
          <p:cNvSpPr/>
          <p:nvPr/>
        </p:nvSpPr>
        <p:spPr>
          <a:xfrm>
            <a:off x="5312664" y="4069080"/>
            <a:ext cx="310896" cy="347472"/>
          </a:xfrm>
          <a:prstGeom prst="chevron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650992" y="3584448"/>
            <a:ext cx="2103120" cy="1335024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815583" y="3749039"/>
            <a:ext cx="402336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15583" y="3749039"/>
            <a:ext cx="402336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15583" y="4105656"/>
            <a:ext cx="1755648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3F7FB"/>
                </a:solidFill>
                <a:latin typeface="Microsoft YaHei"/>
              </a:rPr>
              <a:t>LOSS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15583" y="4453128"/>
            <a:ext cx="17556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DB0C3"/>
                </a:solidFill>
                <a:latin typeface="Microsoft YaHei"/>
              </a:rPr>
              <a:t>flow matching vₜ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2834640"/>
            <a:ext cx="146304" cy="411479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evron 51"/>
          <p:cNvSpPr/>
          <p:nvPr/>
        </p:nvSpPr>
        <p:spPr>
          <a:xfrm>
            <a:off x="7223760" y="3063240"/>
            <a:ext cx="256032" cy="292608"/>
          </a:xfrm>
          <a:prstGeom prst="chevron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cosmos_framework/model/generator/omni_mot_model.py:802-814  ·  cosmos_framework/model/generator/omni_mot_model.py:1004-1035  ·  cosmos_framework/model/generator/omni_mot_model.py:1299-1325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Reasoner 与 Generator：条件信息单向流动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当前 Vision SFT 中，Reasoner 读文本；clean/noisy 视觉 latent 位于 Generator split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600200"/>
            <a:ext cx="318211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1" y="1783080"/>
            <a:ext cx="107899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1" y="1783080"/>
            <a:ext cx="107899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KEY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2350008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3113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Understanding split：文本 causal self-attention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3553968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43509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Generator split：视觉 latent 的生成与 flow matching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4757928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463905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Generator 可读取文本条件；Reasoner 不反向读取视觉生成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664208"/>
            <a:ext cx="3154680" cy="42976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1938528"/>
            <a:ext cx="1152144" cy="29260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1938528"/>
            <a:ext cx="1152144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REASONER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395728"/>
            <a:ext cx="237744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F3F7FB"/>
                </a:solidFill>
                <a:latin typeface="Microsoft YaHei"/>
              </a:rPr>
              <a:t>Understanding split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" y="3108960"/>
            <a:ext cx="438912" cy="457200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108960"/>
            <a:ext cx="438912" cy="45720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[BOS]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89888" y="3108960"/>
            <a:ext cx="438912" cy="457200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88" y="3108960"/>
            <a:ext cx="438912" cy="45720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text₀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39" y="3108960"/>
            <a:ext cx="438912" cy="457200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39" y="3108960"/>
            <a:ext cx="438912" cy="45720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text₁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50591" y="3108960"/>
            <a:ext cx="438912" cy="457200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50591" y="3108960"/>
            <a:ext cx="438912" cy="45720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80944" y="3108960"/>
            <a:ext cx="438912" cy="457200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80944" y="3108960"/>
            <a:ext cx="438912" cy="45720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[SOG]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858768"/>
            <a:ext cx="2304288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0">
                <a:solidFill>
                  <a:srgbClr val="8B7CFF"/>
                </a:solidFill>
                <a:latin typeface="Microsoft YaHei"/>
              </a:rPr>
              <a:t>causal self-attention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782312"/>
            <a:ext cx="2578608" cy="47548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9DB0C3"/>
                </a:solidFill>
                <a:latin typeface="Microsoft YaHei"/>
              </a:rPr>
              <a:t>不读取 Generator 中的视觉 token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1664208"/>
            <a:ext cx="3511296" cy="42976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01184" y="1938528"/>
            <a:ext cx="1225296" cy="292608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1184" y="1938528"/>
            <a:ext cx="1225296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GENERATOR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1184" y="2395728"/>
            <a:ext cx="2487168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F3F7FB"/>
                </a:solidFill>
                <a:latin typeface="Microsoft YaHei"/>
              </a:rPr>
              <a:t>Generation split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3108960"/>
            <a:ext cx="548640" cy="457200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3108960"/>
            <a:ext cx="548640" cy="45720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50992" y="3108960"/>
            <a:ext cx="548640" cy="45720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50992" y="3108960"/>
            <a:ext cx="548640" cy="45720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64224" y="3108960"/>
            <a:ext cx="548640" cy="45720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64224" y="3108960"/>
            <a:ext cx="548640" cy="45720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77456" y="3108960"/>
            <a:ext cx="548640" cy="45720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77456" y="3108960"/>
            <a:ext cx="548640" cy="45720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0912" y="3858768"/>
            <a:ext cx="2670048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0">
                <a:solidFill>
                  <a:srgbClr val="FF9F43"/>
                </a:solidFill>
                <a:latin typeface="Microsoft YaHei"/>
              </a:rPr>
              <a:t>clean + noisy VAE latent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4782312"/>
            <a:ext cx="2788920" cy="47548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9DB0C3"/>
                </a:solidFill>
                <a:latin typeface="Microsoft YaHei"/>
              </a:rPr>
              <a:t>读取文本条件并预测 flow velocity</a:t>
            </a:r>
          </a:p>
        </p:txBody>
      </p:sp>
      <p:sp>
        <p:nvSpPr>
          <p:cNvPr id="47" name="Chevron 46"/>
          <p:cNvSpPr/>
          <p:nvPr/>
        </p:nvSpPr>
        <p:spPr>
          <a:xfrm>
            <a:off x="3959352" y="3246120"/>
            <a:ext cx="438912" cy="566928"/>
          </a:xfrm>
          <a:prstGeom prst="chevron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67328" y="3877056"/>
            <a:ext cx="841248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14D9C4"/>
                </a:solidFill>
                <a:latin typeface="Microsoft YaHei"/>
              </a:rPr>
              <a:t>text condition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cosmos_framework/model/generator/omni_mot_model.py:1288-1297  ·  cosmos_framework/data/generator/sequence_packing/packers.py:203-222  ·  cosmos_framework/model/generator/mot/attention.py:574-613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标准 V2V token 排布｜时间先于空间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视觉 token 物理顺序始终沿 T → H_patch → W_patch 展平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600200"/>
            <a:ext cx="318211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1" y="1783080"/>
            <a:ext cx="107899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1" y="1783080"/>
            <a:ext cx="107899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KEY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2350008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3113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文本位于 causal / understanding split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3553968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43509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视觉位于 generator / full-attention split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4757928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463905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clean 与 noisy frame 不拆 block，仍留在原始时间位置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1627632"/>
            <a:ext cx="2103120" cy="29260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627632"/>
            <a:ext cx="2103120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UNDERSTANDING / CAUSAL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057400"/>
            <a:ext cx="713232" cy="47548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057400"/>
            <a:ext cx="713232" cy="47548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BOS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81328" y="2057400"/>
            <a:ext cx="713232" cy="47548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81328" y="2057400"/>
            <a:ext cx="713232" cy="47548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txt₀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04288" y="2057400"/>
            <a:ext cx="713232" cy="47548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04288" y="2057400"/>
            <a:ext cx="713232" cy="47548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txt₁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27248" y="2057400"/>
            <a:ext cx="713232" cy="47548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248" y="2057400"/>
            <a:ext cx="713232" cy="47548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50208" y="2057400"/>
            <a:ext cx="713232" cy="47548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0208" y="2057400"/>
            <a:ext cx="713232" cy="47548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EOS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73168" y="2057400"/>
            <a:ext cx="713232" cy="47548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2057400"/>
            <a:ext cx="713232" cy="47548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SOG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2898648"/>
            <a:ext cx="1664208" cy="292608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2898648"/>
            <a:ext cx="1664208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GENERATOR / FULL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401568"/>
            <a:ext cx="384048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14D9C4"/>
                </a:solidFill>
                <a:latin typeface="Microsoft YaHei"/>
              </a:rPr>
              <a:t>V0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9848" y="3401568"/>
            <a:ext cx="310896" cy="310896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463039" y="3401568"/>
            <a:ext cx="310896" cy="310896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856231" y="3401568"/>
            <a:ext cx="310896" cy="310896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249424" y="3401568"/>
            <a:ext cx="310896" cy="310896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3785615"/>
            <a:ext cx="1517904" cy="2194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9DB0C3"/>
                </a:solidFill>
                <a:latin typeface="Microsoft YaHei"/>
              </a:rPr>
              <a:t>H → 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3401568"/>
            <a:ext cx="384048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F9F43"/>
                </a:solidFill>
                <a:latin typeface="Microsoft YaHei"/>
              </a:rPr>
              <a:t>V1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3401568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776472" y="3401568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169664" y="3401568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62856" y="3401568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0" y="3785615"/>
            <a:ext cx="1517904" cy="2194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9DB0C3"/>
                </a:solidFill>
                <a:latin typeface="Microsoft YaHei"/>
              </a:rPr>
              <a:t>H → 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5231" y="3401568"/>
            <a:ext cx="384048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F9F43"/>
                </a:solidFill>
                <a:latin typeface="Microsoft YaHei"/>
              </a:rPr>
              <a:t>V2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96712" y="3401568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89903" y="3401568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83096" y="3401568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76288" y="3401568"/>
            <a:ext cx="310896" cy="310896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96712" y="3785615"/>
            <a:ext cx="1517904" cy="2194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9DB0C3"/>
                </a:solidFill>
                <a:latin typeface="Microsoft YaHei"/>
              </a:rPr>
              <a:t>H → 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" y="4599432"/>
            <a:ext cx="687628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" y="4828032"/>
            <a:ext cx="859536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9DB0C3"/>
                </a:solidFill>
                <a:latin typeface="Microsoft YaHei"/>
              </a:rPr>
              <a:t>展平顺序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45920" y="4828032"/>
            <a:ext cx="329184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4D9C4"/>
                </a:solidFill>
                <a:latin typeface="Microsoft YaHei"/>
              </a:rPr>
              <a:t>T</a:t>
            </a:r>
          </a:p>
        </p:txBody>
      </p:sp>
      <p:sp>
        <p:nvSpPr>
          <p:cNvPr id="54" name="Chevron 53"/>
          <p:cNvSpPr/>
          <p:nvPr/>
        </p:nvSpPr>
        <p:spPr>
          <a:xfrm>
            <a:off x="1938528" y="4828032"/>
            <a:ext cx="219456" cy="256032"/>
          </a:xfrm>
          <a:prstGeom prst="chevron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67712" y="4828032"/>
            <a:ext cx="804672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F9F43"/>
                </a:solidFill>
                <a:latin typeface="Microsoft YaHei"/>
              </a:rPr>
              <a:t>H_patch</a:t>
            </a:r>
          </a:p>
        </p:txBody>
      </p:sp>
      <p:sp>
        <p:nvSpPr>
          <p:cNvPr id="56" name="Chevron 55"/>
          <p:cNvSpPr/>
          <p:nvPr/>
        </p:nvSpPr>
        <p:spPr>
          <a:xfrm>
            <a:off x="3136392" y="4828032"/>
            <a:ext cx="219456" cy="256032"/>
          </a:xfrm>
          <a:prstGeom prst="chevron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0" y="4828032"/>
            <a:ext cx="841248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8B7CFF"/>
                </a:solidFill>
                <a:latin typeface="Microsoft YaHei"/>
              </a:rPr>
              <a:t>W_patch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" y="5623560"/>
            <a:ext cx="3977639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FF5C78"/>
                </a:solidFill>
                <a:latin typeface="Microsoft YaHei"/>
              </a:rPr>
              <a:t>时间排序 ≠ temporal causal mask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cosmos_framework/data/generator/sequence_packing/sequence.py:276-304  ·  cosmos_framework/model/generator/mot/cosmos3_vfm_network.py:963-1009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同一条时间轴上的 clean、noisy 与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condition_mask 决定是否加噪；noisy_frame_indexes 与 mse_loss_indexes 决定监督范围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600200"/>
            <a:ext cx="318211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1" y="1783080"/>
            <a:ext cx="107899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1" y="1783080"/>
            <a:ext cx="107899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KEY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2350008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3113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condition_mask=1 → σ_eff=0 → 保留 clean x₀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3553968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43509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condition_mask=0 → xₜ=interpolate(x₀, ε, σ)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4757928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463905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loss 只覆盖待生成 patch；条件 patch 不进入 MSE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819656"/>
            <a:ext cx="144475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9DB0C3"/>
                </a:solidFill>
                <a:latin typeface="Microsoft YaHei"/>
              </a:rPr>
              <a:t>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76272" y="1719072"/>
            <a:ext cx="804672" cy="530352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76272" y="1719072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1719072"/>
            <a:ext cx="804672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1719072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1719072"/>
            <a:ext cx="804672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1719072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85816" y="1719072"/>
            <a:ext cx="804672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85816" y="1719072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55664" y="1719072"/>
            <a:ext cx="804672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1719072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V₄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2752344"/>
            <a:ext cx="144475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9DB0C3"/>
                </a:solidFill>
                <a:latin typeface="Microsoft YaHei"/>
              </a:rPr>
              <a:t>condition_mask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76272" y="2651760"/>
            <a:ext cx="804672" cy="530352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76272" y="2651760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2651760"/>
            <a:ext cx="804672" cy="530352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14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2651760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15968" y="2651760"/>
            <a:ext cx="804672" cy="530352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14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15968" y="2651760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85816" y="2651760"/>
            <a:ext cx="804672" cy="530352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14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85816" y="2651760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55664" y="2651760"/>
            <a:ext cx="804672" cy="530352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14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2651760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3685032"/>
            <a:ext cx="144475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9DB0C3"/>
                </a:solidFill>
                <a:latin typeface="Microsoft YaHei"/>
              </a:rPr>
              <a:t>σ_eff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76272" y="3584448"/>
            <a:ext cx="804672" cy="530352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76272" y="3584448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46120" y="3584448"/>
            <a:ext cx="804672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6120" y="3584448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15968" y="3584448"/>
            <a:ext cx="804672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584448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σ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85816" y="3584448"/>
            <a:ext cx="804672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85816" y="3584448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55664" y="3584448"/>
            <a:ext cx="804672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55664" y="3584448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4617720"/>
            <a:ext cx="144475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9DB0C3"/>
                </a:solidFill>
                <a:latin typeface="Microsoft YaHei"/>
              </a:rPr>
              <a:t>loss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76272" y="4517136"/>
            <a:ext cx="804672" cy="530352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14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76272" y="4517136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46120" y="4517136"/>
            <a:ext cx="804672" cy="530352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46120" y="4517136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15968" y="4517136"/>
            <a:ext cx="804672" cy="530352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15968" y="4517136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85816" y="4517136"/>
            <a:ext cx="804672" cy="530352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85816" y="4517136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55664" y="4517136"/>
            <a:ext cx="804672" cy="530352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4517136"/>
            <a:ext cx="804672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5532120"/>
            <a:ext cx="7269480" cy="438912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4672" y="5577840"/>
            <a:ext cx="694944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3F7FB"/>
                </a:solidFill>
                <a:latin typeface="Microsoft YaHei"/>
              </a:rPr>
              <a:t>σ_eff = σ × (1 − condition_mask)     ·     loss 仅索引 generation patch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cosmos_framework/data/generator/sequence_packing/sequence.py:282-299  ·  cosmos_framework/model/generator/omni_mot_model.py:1006-1015  ·  cosmos_framework/model/generator/algorithm/loss/flow_matching.py:30-45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Temporal causal：把每帧组织成 supertoken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纯视觉是 [Vₜ]；有 action 时是 [Aₜ, Vₜ]，时序单元仍按 t 递增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600200"/>
            <a:ext cx="318211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1" y="1783080"/>
            <a:ext cx="107899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1" y="1783080"/>
            <a:ext cx="107899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KEY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2350008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3113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无 action：S = H_patch × W_patch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3553968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43509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有 action：S = temporal_compression_factor + H_patch × W_patch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4757928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463905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whole-clip 的首个 action 槽可为 null，真实 action 从后续帧开始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1609344"/>
            <a:ext cx="1152144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609344"/>
            <a:ext cx="1152144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VISION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057400"/>
            <a:ext cx="1463040" cy="96012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148840"/>
            <a:ext cx="1463040" cy="23774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9DB0C3"/>
                </a:solidFill>
                <a:latin typeface="Microsoft YaHei"/>
              </a:rPr>
              <a:t>Supertoken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" y="2487168"/>
            <a:ext cx="1024128" cy="365760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487168"/>
            <a:ext cx="1024128" cy="36576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V0 · H×W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50591" y="2057400"/>
            <a:ext cx="1463040" cy="96012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0591" y="2148840"/>
            <a:ext cx="1463040" cy="23774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9DB0C3"/>
                </a:solidFill>
                <a:latin typeface="Microsoft YaHei"/>
              </a:rPr>
              <a:t>Supertoken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70048" y="2487168"/>
            <a:ext cx="1024128" cy="36576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2487168"/>
            <a:ext cx="1024128" cy="36576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V1 · H×W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2057400"/>
            <a:ext cx="1463040" cy="96012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2816" y="2148840"/>
            <a:ext cx="1463040" cy="23774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9DB0C3"/>
                </a:solidFill>
                <a:latin typeface="Microsoft YaHei"/>
              </a:rPr>
              <a:t>Supertoken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2272" y="2487168"/>
            <a:ext cx="1024128" cy="36576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2487168"/>
            <a:ext cx="1024128" cy="36576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V2 · H×W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057400"/>
            <a:ext cx="1463040" cy="96012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2148840"/>
            <a:ext cx="1463040" cy="23774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9DB0C3"/>
                </a:solidFill>
                <a:latin typeface="Microsoft YaHei"/>
              </a:rPr>
              <a:t>Supertoken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4496" y="2487168"/>
            <a:ext cx="1024128" cy="36576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2487168"/>
            <a:ext cx="1024128" cy="36576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V3 · H×W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429000"/>
            <a:ext cx="1444752" cy="29260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429000"/>
            <a:ext cx="144475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ACTION + VISION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3858768"/>
            <a:ext cx="1463040" cy="1170432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931920"/>
            <a:ext cx="14630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9DB0C3"/>
                </a:solidFill>
                <a:latin typeface="Microsoft YaHei"/>
              </a:rPr>
              <a:t>t = 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" y="4370832"/>
            <a:ext cx="420624" cy="365760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4370832"/>
            <a:ext cx="420624" cy="36576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A0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07592" y="4370832"/>
            <a:ext cx="658368" cy="365760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07592" y="4370832"/>
            <a:ext cx="658368" cy="36576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V0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50591" y="3858768"/>
            <a:ext cx="1463040" cy="1170432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50591" y="3931920"/>
            <a:ext cx="14630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9DB0C3"/>
                </a:solidFill>
                <a:latin typeface="Microsoft YaHei"/>
              </a:rPr>
              <a:t>t = 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96896" y="4370832"/>
            <a:ext cx="420624" cy="365760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96896" y="4370832"/>
            <a:ext cx="420624" cy="36576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A1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99815" y="4370832"/>
            <a:ext cx="658368" cy="36576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99815" y="4370832"/>
            <a:ext cx="658368" cy="36576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V1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42816" y="3858768"/>
            <a:ext cx="1463040" cy="1170432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42816" y="3931920"/>
            <a:ext cx="14630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9DB0C3"/>
                </a:solidFill>
                <a:latin typeface="Microsoft YaHei"/>
              </a:rPr>
              <a:t>t = 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89120" y="4370832"/>
            <a:ext cx="420624" cy="365760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4370832"/>
            <a:ext cx="420624" cy="36576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A2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92040" y="4370832"/>
            <a:ext cx="658368" cy="36576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92040" y="4370832"/>
            <a:ext cx="658368" cy="36576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V2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3858768"/>
            <a:ext cx="1463040" cy="1170432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0" y="3931920"/>
            <a:ext cx="14630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900" b="0">
                <a:solidFill>
                  <a:srgbClr val="9DB0C3"/>
                </a:solidFill>
                <a:latin typeface="Microsoft YaHei"/>
              </a:rPr>
              <a:t>t = 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81344" y="4370832"/>
            <a:ext cx="420624" cy="365760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81344" y="4370832"/>
            <a:ext cx="420624" cy="36576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A3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84264" y="4370832"/>
            <a:ext cx="658368" cy="365760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84264" y="4370832"/>
            <a:ext cx="658368" cy="365760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V3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" y="5559552"/>
            <a:ext cx="4407408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9DB0C3"/>
                </a:solidFill>
                <a:latin typeface="Microsoft YaHei"/>
              </a:rPr>
              <a:t>S = action tokens + H_patch × W_patch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cosmos_framework/data/generator/sequence_packing/temporal_causal.py:14-37  ·  cosmos_framework/data/generator/sequence_packing/temporal_causal.py:91-130  ·  cosmos_framework/data/generator/sequence_packing/temporal_causal.py:169-170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Temporal causal mask｜T 因果，S 内全连接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第 t 个 supertoken 只能读取 0…t；同一 supertoken 内 action/patch 全可见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600200"/>
            <a:ext cx="318211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1" y="1783080"/>
            <a:ext cx="107899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1" y="1783080"/>
            <a:ext cx="107899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KEY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2350008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3113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metadata 将 generator tokens 解释为二维布局 (T, 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3553968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43509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is_causal=(True, False)：T 维 causal，S 维 full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4757928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463905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配置强约束：video_temporal_causal=true 需要 three_way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600200"/>
            <a:ext cx="4590288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1368" y="1938528"/>
            <a:ext cx="2834640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KEY  →  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72384"/>
            <a:ext cx="420624" cy="9144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286000"/>
            <a:ext cx="256032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V0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2011680"/>
            <a:ext cx="566928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V0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81328" y="2286000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1328" y="2286000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48256" y="2286000"/>
            <a:ext cx="521207" cy="521207"/>
          </a:xfrm>
          <a:prstGeom prst="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48256" y="2286000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9DB0C3"/>
                </a:solidFill>
                <a:latin typeface="Microsoft YaHei"/>
              </a:rPr>
              <a:t>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15184" y="2286000"/>
            <a:ext cx="521207" cy="521207"/>
          </a:xfrm>
          <a:prstGeom prst="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2286000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9DB0C3"/>
                </a:solidFill>
                <a:latin typeface="Microsoft YaHei"/>
              </a:rPr>
              <a:t>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2286000"/>
            <a:ext cx="521207" cy="521207"/>
          </a:xfrm>
          <a:prstGeom prst="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82112" y="2286000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9DB0C3"/>
                </a:solidFill>
                <a:latin typeface="Microsoft YaHei"/>
              </a:rPr>
              <a:t>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2286000"/>
            <a:ext cx="521207" cy="521207"/>
          </a:xfrm>
          <a:prstGeom prst="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39" y="2286000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9DB0C3"/>
                </a:solidFill>
                <a:latin typeface="Microsoft YaHei"/>
              </a:rPr>
              <a:t>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2852928"/>
            <a:ext cx="256032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V1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48256" y="2011680"/>
            <a:ext cx="566928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V1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81328" y="2852928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81328" y="2852928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48256" y="2852928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48256" y="2852928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15184" y="2852928"/>
            <a:ext cx="521207" cy="521207"/>
          </a:xfrm>
          <a:prstGeom prst="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15184" y="2852928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9DB0C3"/>
                </a:solidFill>
                <a:latin typeface="Microsoft YaHei"/>
              </a:rPr>
              <a:t>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82112" y="2852928"/>
            <a:ext cx="521207" cy="521207"/>
          </a:xfrm>
          <a:prstGeom prst="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82112" y="2852928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9DB0C3"/>
                </a:solidFill>
                <a:latin typeface="Microsoft YaHei"/>
              </a:rPr>
              <a:t>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39" y="2852928"/>
            <a:ext cx="521207" cy="521207"/>
          </a:xfrm>
          <a:prstGeom prst="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39" y="2852928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9DB0C3"/>
                </a:solidFill>
                <a:latin typeface="Microsoft YaHei"/>
              </a:rPr>
              <a:t>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0432" y="3419856"/>
            <a:ext cx="256032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V2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15184" y="2011680"/>
            <a:ext cx="566928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V2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81328" y="3419856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81328" y="3419856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48256" y="3419856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48256" y="3419856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15184" y="3419856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15184" y="3419856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82112" y="3419856"/>
            <a:ext cx="521207" cy="521207"/>
          </a:xfrm>
          <a:prstGeom prst="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82112" y="3419856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9DB0C3"/>
                </a:solidFill>
                <a:latin typeface="Microsoft YaHei"/>
              </a:rPr>
              <a:t>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49039" y="3419856"/>
            <a:ext cx="521207" cy="521207"/>
          </a:xfrm>
          <a:prstGeom prst="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49039" y="3419856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9DB0C3"/>
                </a:solidFill>
                <a:latin typeface="Microsoft YaHei"/>
              </a:rPr>
              <a:t>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70432" y="3986783"/>
            <a:ext cx="256032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V3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82112" y="2011680"/>
            <a:ext cx="566928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V3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481328" y="3986783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81328" y="3986783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48256" y="3986783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48256" y="3986783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15184" y="3986783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15184" y="3986783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82112" y="3986783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82112" y="3986783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749039" y="3986783"/>
            <a:ext cx="521207" cy="521207"/>
          </a:xfrm>
          <a:prstGeom prst="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49039" y="3986783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0">
                <a:solidFill>
                  <a:srgbClr val="9DB0C3"/>
                </a:solidFill>
                <a:latin typeface="Microsoft YaHei"/>
              </a:rPr>
              <a:t>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0432" y="4553712"/>
            <a:ext cx="256032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V4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49039" y="2011680"/>
            <a:ext cx="566928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000" b="0">
                <a:solidFill>
                  <a:srgbClr val="9DB0C3"/>
                </a:solidFill>
                <a:latin typeface="Microsoft YaHei"/>
              </a:rPr>
              <a:t>V4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81328" y="4553712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81328" y="4553712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48256" y="4553712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48256" y="4553712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15184" y="4553712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15184" y="4553712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82112" y="4553712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82112" y="4553712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49039" y="4553712"/>
            <a:ext cx="521207" cy="521207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49039" y="4553712"/>
            <a:ext cx="521207" cy="521207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✓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97280" y="5440680"/>
            <a:ext cx="3511296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97280" y="5440680"/>
            <a:ext cx="3511296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071018"/>
                </a:solidFill>
                <a:latin typeface="Microsoft YaHei"/>
              </a:rPr>
              <a:t>is_causal = ( True , False 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413248" y="1600200"/>
            <a:ext cx="2761488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797296" y="1947672"/>
            <a:ext cx="1975104" cy="58521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3000" b="1">
                <a:solidFill>
                  <a:srgbClr val="F3F7FB"/>
                </a:solidFill>
                <a:latin typeface="Microsoft YaHei"/>
              </a:rPr>
              <a:t>( T , S 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06440" y="2834640"/>
            <a:ext cx="64008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4D9C4"/>
                </a:solidFill>
                <a:latin typeface="Microsoft YaHei"/>
              </a:rPr>
              <a:t>T 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47104" y="2834640"/>
            <a:ext cx="100584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4D9C4"/>
                </a:solidFill>
                <a:latin typeface="Microsoft YaHei"/>
              </a:rPr>
              <a:t>CAUSAL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06440" y="3456432"/>
            <a:ext cx="64008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F9F43"/>
                </a:solidFill>
                <a:latin typeface="Microsoft YaHei"/>
              </a:rPr>
              <a:t>S 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47104" y="3456432"/>
            <a:ext cx="100584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F9F43"/>
                </a:solidFill>
                <a:latin typeface="Microsoft YaHei"/>
              </a:rPr>
              <a:t>FULL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4133087"/>
            <a:ext cx="2084832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833872" y="4416552"/>
            <a:ext cx="987552" cy="292608"/>
          </a:xfrm>
          <a:prstGeom prst="roundRect">
            <a:avLst/>
          </a:prstGeom>
          <a:solidFill>
            <a:srgbClr val="FF5C78"/>
          </a:solidFill>
          <a:ln w="12700">
            <a:solidFill>
              <a:srgbClr val="FF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33872" y="4416552"/>
            <a:ext cx="98755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REQUIRES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33872" y="4864608"/>
            <a:ext cx="1810512" cy="47548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5C78"/>
                </a:solidFill>
                <a:latin typeface="Microsoft YaHei"/>
              </a:rPr>
              <a:t>three_way attention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cosmos_framework/data/generator/sequence_packing/natten.py:448-495  ·  cosmos_framework/model/generator/mot/cosmos3_vfm_network.py:130-134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三种训练策略｜名字相近，行为不同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none 与当前 teacher_forcing 都是共享 σ；只有 diffusion_forcing 进入逐帧 σ 分支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27632"/>
          <a:ext cx="11109960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27632"/>
                <a:gridCol w="2103120"/>
                <a:gridCol w="2103120"/>
                <a:gridCol w="3611880"/>
              </a:tblGrid>
              <a:tr h="11018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3F7FB"/>
                          </a:solidFill>
                          <a:latin typeface="Microsoft YaHei"/>
                        </a:rPr>
                        <a:t>strategy</a:t>
                      </a:r>
                    </a:p>
                  </a:txBody>
                  <a:tcPr marL="73152" marR="73152" marT="36576" marB="36576" anchor="ctr"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3F7FB"/>
                          </a:solidFill>
                          <a:latin typeface="Microsoft YaHei"/>
                        </a:rPr>
                        <a:t>σ shape</a:t>
                      </a:r>
                    </a:p>
                  </a:txBody>
                  <a:tcPr marL="73152" marR="73152" marT="36576" marB="36576" anchor="ctr"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3F7FB"/>
                          </a:solidFill>
                          <a:latin typeface="Microsoft YaHei"/>
                        </a:rPr>
                        <a:t>显式条件帧</a:t>
                      </a:r>
                    </a:p>
                  </a:txBody>
                  <a:tcPr marL="73152" marR="73152" marT="36576" marB="36576" anchor="ctr"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3F7FB"/>
                          </a:solidFill>
                          <a:latin typeface="Microsoft YaHei"/>
                        </a:rPr>
                        <a:t>clean history</a:t>
                      </a:r>
                    </a:p>
                  </a:txBody>
                  <a:tcPr marL="73152" marR="73152" marT="36576" marB="36576" anchor="ctr"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3F7FB"/>
                          </a:solidFill>
                          <a:latin typeface="Microsoft YaHei"/>
                        </a:rPr>
                        <a:t>当前语义</a:t>
                      </a:r>
                    </a:p>
                  </a:txBody>
                  <a:tcPr marL="73152" marR="73152" marT="36576" marB="36576" anchor="ctr">
                    <a:solidFill>
                      <a:srgbClr val="142B42"/>
                    </a:solidFill>
                  </a:tcPr>
                </a:tc>
              </a:tr>
              <a:tr h="1101852"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071018"/>
                          </a:solidFill>
                          <a:latin typeface="Microsoft YaHei"/>
                        </a:rPr>
                        <a:t>none</a:t>
                      </a:r>
                    </a:p>
                  </a:txBody>
                  <a:tcPr marL="73152" marR="73152" marT="36576" marB="36576" anchor="ctr">
                    <a:solidFill>
                      <a:srgbClr val="14D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F3F7FB"/>
                          </a:solidFill>
                          <a:latin typeface="Microsoft YaHei"/>
                        </a:rPr>
                        <a:t>[B,1]</a:t>
                      </a:r>
                    </a:p>
                  </a:txBody>
                  <a:tcPr marL="73152" marR="73152" marT="36576" marB="36576" anchor="ctr">
                    <a:solidFill>
                      <a:srgbClr val="102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F3F7FB"/>
                          </a:solidFill>
                          <a:latin typeface="Microsoft YaHei"/>
                        </a:rPr>
                        <a:t>保留</a:t>
                      </a:r>
                    </a:p>
                  </a:txBody>
                  <a:tcPr marL="73152" marR="73152" marT="36576" marB="36576" anchor="ctr">
                    <a:solidFill>
                      <a:srgbClr val="102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F3F7FB"/>
                          </a:solidFill>
                          <a:latin typeface="Microsoft YaHei"/>
                        </a:rPr>
                        <a:t>无</a:t>
                      </a:r>
                    </a:p>
                  </a:txBody>
                  <a:tcPr marL="73152" marR="73152" marT="36576" marB="36576" anchor="ctr">
                    <a:solidFill>
                      <a:srgbClr val="102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F3F7FB"/>
                          </a:solidFill>
                          <a:latin typeface="Microsoft YaHei"/>
                        </a:rPr>
                        <a:t>标准联合去噪</a:t>
                      </a:r>
                    </a:p>
                  </a:txBody>
                  <a:tcPr marL="73152" marR="73152" marT="36576" marB="36576" anchor="ctr">
                    <a:solidFill>
                      <a:srgbClr val="102235"/>
                    </a:solidFill>
                  </a:tcPr>
                </a:tc>
              </a:tr>
              <a:tr h="1101852"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071018"/>
                          </a:solidFill>
                          <a:latin typeface="Microsoft YaHei"/>
                        </a:rPr>
                        <a:t>teacher_forcing</a:t>
                      </a:r>
                    </a:p>
                  </a:txBody>
                  <a:tcPr marL="73152" marR="73152" marT="36576" marB="36576" anchor="ctr">
                    <a:solidFill>
                      <a:srgbClr val="8B7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F3F7FB"/>
                          </a:solidFill>
                          <a:latin typeface="Microsoft YaHei"/>
                        </a:rPr>
                        <a:t>[B,1]</a:t>
                      </a:r>
                    </a:p>
                  </a:txBody>
                  <a:tcPr marL="73152" marR="73152" marT="36576" marB="36576" anchor="ctr"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F3F7FB"/>
                          </a:solidFill>
                          <a:latin typeface="Microsoft YaHei"/>
                        </a:rPr>
                        <a:t>保留</a:t>
                      </a:r>
                    </a:p>
                  </a:txBody>
                  <a:tcPr marL="73152" marR="73152" marT="36576" marB="36576" anchor="ctr"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F3F7FB"/>
                          </a:solidFill>
                          <a:latin typeface="Microsoft YaHei"/>
                        </a:rPr>
                        <a:t>基础类无</a:t>
                      </a:r>
                    </a:p>
                  </a:txBody>
                  <a:tcPr marL="73152" marR="73152" marT="36576" marB="36576" anchor="ctr">
                    <a:solidFill>
                      <a:srgbClr val="142B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F3F7FB"/>
                          </a:solidFill>
                          <a:latin typeface="Microsoft YaHei"/>
                        </a:rPr>
                        <a:t>配置接口 + 空 hook</a:t>
                      </a:r>
                    </a:p>
                  </a:txBody>
                  <a:tcPr marL="73152" marR="73152" marT="36576" marB="36576" anchor="ctr">
                    <a:solidFill>
                      <a:srgbClr val="142B42"/>
                    </a:solidFill>
                  </a:tcPr>
                </a:tc>
              </a:tr>
              <a:tr h="1101852"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071018"/>
                          </a:solidFill>
                          <a:latin typeface="Microsoft YaHei"/>
                        </a:rPr>
                        <a:t>diffusion_forcing</a:t>
                      </a:r>
                    </a:p>
                  </a:txBody>
                  <a:tcPr marL="73152" marR="73152" marT="36576" marB="36576" anchor="ctr">
                    <a:solidFill>
                      <a:srgbClr val="FF9F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F3F7FB"/>
                          </a:solidFill>
                          <a:latin typeface="Microsoft YaHei"/>
                        </a:rPr>
                        <a:t>[B,T]</a:t>
                      </a:r>
                    </a:p>
                  </a:txBody>
                  <a:tcPr marL="73152" marR="73152" marT="36576" marB="36576" anchor="ctr">
                    <a:solidFill>
                      <a:srgbClr val="102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F3F7FB"/>
                          </a:solidFill>
                          <a:latin typeface="Microsoft YaHei"/>
                        </a:rPr>
                        <a:t>保留</a:t>
                      </a:r>
                    </a:p>
                  </a:txBody>
                  <a:tcPr marL="73152" marR="73152" marT="36576" marB="36576" anchor="ctr">
                    <a:solidFill>
                      <a:srgbClr val="102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F3F7FB"/>
                          </a:solidFill>
                          <a:latin typeface="Microsoft YaHei"/>
                        </a:rPr>
                        <a:t>无</a:t>
                      </a:r>
                    </a:p>
                  </a:txBody>
                  <a:tcPr marL="73152" marR="73152" marT="36576" marB="36576" anchor="ctr">
                    <a:solidFill>
                      <a:srgbClr val="102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>
                          <a:solidFill>
                            <a:srgbClr val="F3F7FB"/>
                          </a:solidFill>
                          <a:latin typeface="Microsoft YaHei"/>
                        </a:rPr>
                        <a:t>逐 latent frame 独立 σ</a:t>
                      </a:r>
                    </a:p>
                  </a:txBody>
                  <a:tcPr marL="73152" marR="73152" marT="36576" marB="36576" anchor="ctr">
                    <a:solidFill>
                      <a:srgbClr val="10223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" y="6108192"/>
            <a:ext cx="1088136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9DB0C3"/>
                </a:solidFill>
                <a:latin typeface="Microsoft YaHei"/>
              </a:rPr>
              <a:t>注：teacher_forcing_dcm 目前仅作为配置接受值；本页不把它推断为已闭环能力。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cosmos_framework/configs/base/defaults/model_config.py:232-238  ·  cosmos_framework/model/generator/omni_mot_model.py:1316-1325  ·  cosmos_framework/model/generator/omni_mot_model.py:1377-1394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Teacher forcing｜设计意图 ≠ 当前基础类行为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当前 V₂ 读取的是 clean V₀ + noisy V₁，而不是 clean V₀ + clean V₁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600200"/>
            <a:ext cx="318211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1" y="1783080"/>
            <a:ext cx="107899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1" y="1783080"/>
            <a:ext cx="107899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KEY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2350008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3113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理想：预测 Vₜ 时读取 clean V₀…Vₜ₋₁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3553968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43509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当前：只有显式 condition frame 保持 clean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4757928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463905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原因：pre_noise_memory_hook 原样返回；build_memory_state 返回 None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618488"/>
            <a:ext cx="3694176" cy="4498848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1856231"/>
            <a:ext cx="71323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856231"/>
            <a:ext cx="71323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IDEAL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304288"/>
            <a:ext cx="210312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F3F7FB"/>
                </a:solidFill>
                <a:latin typeface="Microsoft YaHei"/>
              </a:rPr>
              <a:t>预测 noisy V₂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2971800"/>
            <a:ext cx="950976" cy="530352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971800"/>
            <a:ext cx="950976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clean V₀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38528" y="2971800"/>
            <a:ext cx="950976" cy="530352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38528" y="2971800"/>
            <a:ext cx="950976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clean V₁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35808" y="2971800"/>
            <a:ext cx="950976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35808" y="2971800"/>
            <a:ext cx="950976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noisy V₂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822191"/>
            <a:ext cx="310896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0">
                <a:solidFill>
                  <a:srgbClr val="14D9C4"/>
                </a:solidFill>
                <a:latin typeface="Microsoft YaHei"/>
              </a:rPr>
              <a:t>clean-history forward / KV memory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1618488"/>
            <a:ext cx="3694176" cy="4498848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FF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54880" y="1856231"/>
            <a:ext cx="1280160" cy="292608"/>
          </a:xfrm>
          <a:prstGeom prst="roundRect">
            <a:avLst/>
          </a:prstGeom>
          <a:solidFill>
            <a:srgbClr val="FF5C78"/>
          </a:solidFill>
          <a:ln w="12700">
            <a:solidFill>
              <a:srgbClr val="FF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1856231"/>
            <a:ext cx="1280160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CURRENT 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304288"/>
            <a:ext cx="210312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F3F7FB"/>
                </a:solidFill>
                <a:latin typeface="Microsoft YaHei"/>
              </a:rPr>
              <a:t>预测 noisy V₂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73168" y="2971800"/>
            <a:ext cx="950976" cy="530352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2971800"/>
            <a:ext cx="950976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clean V₀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70448" y="2971800"/>
            <a:ext cx="950976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0448" y="2971800"/>
            <a:ext cx="950976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noisy V₁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67728" y="2971800"/>
            <a:ext cx="950976" cy="530352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2971800"/>
            <a:ext cx="950976" cy="530352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071018"/>
                </a:solidFill>
                <a:latin typeface="Microsoft YaHei"/>
              </a:rPr>
              <a:t>noisy V₂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3822191"/>
            <a:ext cx="309067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0">
                <a:solidFill>
                  <a:srgbClr val="FF5C78"/>
                </a:solidFill>
                <a:latin typeface="Microsoft YaHei"/>
              </a:rPr>
              <a:t>hook 原样返回  ·  memory=None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3017520"/>
            <a:ext cx="365760" cy="47548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2800" b="1">
                <a:solidFill>
                  <a:srgbClr val="FF5C78"/>
                </a:solidFill>
                <a:latin typeface="Microsoft YaHei"/>
              </a:rPr>
              <a:t>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cosmos_framework/model/generator/omni_mot_model.py:768-800  ·  cosmos_framework/model/generator/omni_mot_model.py:1004-1025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组合分析｜可见性 × 历史噪声状态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因果 mask 只消除“看未来”；它不会自动把“看过去”变成 clean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600200"/>
            <a:ext cx="318211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1" y="1783080"/>
            <a:ext cx="107899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1" y="1783080"/>
            <a:ext cx="107899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KEY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2350008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3113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non-causal + shared σ：标准联合去噪，可读取未来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3553968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43509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causal + shared σ：只读过去，但过去通常仍 noisy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4757928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463905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causal + per-frame σ：只读过去，且历史噪声等级各异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1618488"/>
            <a:ext cx="109728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000" b="1">
                <a:solidFill>
                  <a:srgbClr val="9DB0C3"/>
                </a:solidFill>
                <a:latin typeface="Microsoft YaHei"/>
              </a:rPr>
              <a:t>ATTENTION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1618488"/>
            <a:ext cx="233172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8B7CFF"/>
                </a:solidFill>
                <a:latin typeface="Microsoft YaHei"/>
              </a:rPr>
              <a:t>FULL / FUTURE VISIBLE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1618488"/>
            <a:ext cx="233172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4D9C4"/>
                </a:solidFill>
                <a:latin typeface="Microsoft YaHei"/>
              </a:rPr>
              <a:t>TEMPORAL CAUSAL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2624327"/>
            <a:ext cx="1152144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F9F43"/>
                </a:solidFill>
                <a:latin typeface="Microsoft YaHei"/>
              </a:rPr>
              <a:t>SHARED 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93392" y="2103120"/>
            <a:ext cx="2578608" cy="1426464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76272" y="2304288"/>
            <a:ext cx="2212848" cy="9875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3F7FB"/>
                </a:solidFill>
                <a:latin typeface="Microsoft YaHei"/>
              </a:rPr>
              <a:t>联合去噪
未来可见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64608" y="2103120"/>
            <a:ext cx="2578608" cy="1426464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2304288"/>
            <a:ext cx="2212848" cy="9875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3F7FB"/>
                </a:solidFill>
                <a:latin typeface="Microsoft YaHei"/>
              </a:rPr>
              <a:t>只看过去
历史通常 noisy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4434840"/>
            <a:ext cx="1152144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1">
                <a:solidFill>
                  <a:srgbClr val="FF9F43"/>
                </a:solidFill>
                <a:latin typeface="Microsoft YaHei"/>
              </a:rPr>
              <a:t>PER-FRAME 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3913631"/>
            <a:ext cx="2578608" cy="1426464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76272" y="4114799"/>
            <a:ext cx="2212848" cy="9875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3F7FB"/>
                </a:solidFill>
                <a:latin typeface="Microsoft YaHei"/>
              </a:rPr>
              <a:t>逐帧噪声
未来仍可见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64608" y="3913631"/>
            <a:ext cx="2578608" cy="1426464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4114799"/>
            <a:ext cx="2212848" cy="9875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3F7FB"/>
                </a:solidFill>
                <a:latin typeface="Microsoft YaHei"/>
              </a:rPr>
              <a:t>只看过去
历史 σ 各异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93392" y="5696712"/>
            <a:ext cx="1280160" cy="292608"/>
          </a:xfrm>
          <a:prstGeom prst="roundRect">
            <a:avLst/>
          </a:prstGeom>
          <a:solidFill>
            <a:srgbClr val="FF5C78"/>
          </a:solidFill>
          <a:ln w="12700">
            <a:solidFill>
              <a:srgbClr val="FF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93392" y="5696712"/>
            <a:ext cx="1280160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MISSING CELL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5650992"/>
            <a:ext cx="3749039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F5C78"/>
                </a:solidFill>
                <a:latin typeface="Microsoft YaHei"/>
              </a:rPr>
              <a:t>causal attention + clean-history memory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cosmos_framework/model/generator/omni_mot_model.py:1377-1394  ·  cosmos_framework/data/generator/sequence_packing/natten.py:448-495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Ascend 落地｜先跑通 V2V，再补齐严格 causal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当前稳妥配置保持 two_way / non-causal / none；严格 causal 需要 attention 与 memory 两阶段补齐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85632" y="1600200"/>
            <a:ext cx="3182112" cy="45262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68511" y="1783080"/>
            <a:ext cx="1078992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1" y="1783080"/>
            <a:ext cx="1078992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KEY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05088" y="2350008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23113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现在：conditioning_config 控制 clean 前缀，完成普通 V2V/I2V SFT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3553968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43509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阶段 A：为 (T,S) temporal mask 实现 NPU attention 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4757928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4639056"/>
            <a:ext cx="2487168" cy="1203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F3F7FB"/>
                </a:solidFill>
                <a:latin typeface="Microsoft YaHei"/>
              </a:rPr>
              <a:t>阶段 B：加入逐帧 clean-history forward / KV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719072"/>
            <a:ext cx="2157984" cy="36118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" y="1938528"/>
            <a:ext cx="566928" cy="292608"/>
          </a:xfrm>
          <a:prstGeom prst="round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1938528"/>
            <a:ext cx="566928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487168"/>
            <a:ext cx="1755648" cy="6766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3F7FB"/>
                </a:solidFill>
                <a:latin typeface="Microsoft YaHei"/>
              </a:rPr>
              <a:t>普通 V2V / I2V SFT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3319272"/>
            <a:ext cx="1737360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584448"/>
            <a:ext cx="1755648" cy="12252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9DB0C3"/>
                </a:solidFill>
                <a:latin typeface="Microsoft YaHei"/>
              </a:rPr>
              <a:t>two_way
non-causal
strategy=none</a:t>
            </a:r>
          </a:p>
        </p:txBody>
      </p:sp>
      <p:sp>
        <p:nvSpPr>
          <p:cNvPr id="23" name="Chevron 22"/>
          <p:cNvSpPr/>
          <p:nvPr/>
        </p:nvSpPr>
        <p:spPr>
          <a:xfrm>
            <a:off x="2807208" y="3163824"/>
            <a:ext cx="228600" cy="365760"/>
          </a:xfrm>
          <a:prstGeom prst="chevron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08960" y="1719072"/>
            <a:ext cx="2157984" cy="36118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10128" y="1938528"/>
            <a:ext cx="566928" cy="292608"/>
          </a:xfrm>
          <a:prstGeom prst="round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1938528"/>
            <a:ext cx="566928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2487168"/>
            <a:ext cx="1755648" cy="6766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3F7FB"/>
                </a:solidFill>
                <a:latin typeface="Microsoft YaHei"/>
              </a:rPr>
              <a:t>NPU temporal attention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0128" y="3319272"/>
            <a:ext cx="1737359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0128" y="3584448"/>
            <a:ext cx="1755648" cy="12252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9DB0C3"/>
                </a:solidFill>
                <a:latin typeface="Microsoft YaHei"/>
              </a:rPr>
              <a:t>(T,S) mask
varlen/padded
forward + backward</a:t>
            </a:r>
          </a:p>
        </p:txBody>
      </p:sp>
      <p:sp>
        <p:nvSpPr>
          <p:cNvPr id="30" name="Chevron 29"/>
          <p:cNvSpPr/>
          <p:nvPr/>
        </p:nvSpPr>
        <p:spPr>
          <a:xfrm>
            <a:off x="5349240" y="3163824"/>
            <a:ext cx="228600" cy="365760"/>
          </a:xfrm>
          <a:prstGeom prst="chevron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50992" y="1719072"/>
            <a:ext cx="2157984" cy="3611880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52159" y="1938528"/>
            <a:ext cx="566928" cy="292608"/>
          </a:xfrm>
          <a:prstGeom prst="round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59" y="1938528"/>
            <a:ext cx="566928" cy="292608"/>
          </a:xfrm>
          <a:prstGeom prst="rect">
            <a:avLst/>
          </a:prstGeom>
          <a:noFill/>
        </p:spPr>
        <p:txBody>
          <a:bodyPr wrap="none" lIns="9144" rIns="9144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071018"/>
                </a:solidFill>
                <a:latin typeface="Microsoft YaHei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59" y="2487168"/>
            <a:ext cx="1755648" cy="6766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3F7FB"/>
                </a:solidFill>
                <a:latin typeface="Microsoft YaHei"/>
              </a:rPr>
              <a:t>Clean-history memory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59" y="3319272"/>
            <a:ext cx="1737360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59" y="3584448"/>
            <a:ext cx="1755648" cy="12252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9DB0C3"/>
                </a:solidFill>
                <a:latin typeface="Microsoft YaHei"/>
              </a:rPr>
              <a:t>clean forward
KV visibility
显存与梯度策略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596128"/>
            <a:ext cx="7242048" cy="411480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623560"/>
            <a:ext cx="6903720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3F7FB"/>
                </a:solidFill>
                <a:latin typeface="Microsoft YaHei"/>
              </a:rPr>
              <a:t>严格 V2V causal training = 阶段 A（可见性）+ 阶段 B（clean history）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cosmos_framework/model/attention/natten/__init__.py:58-69  ·  cosmos_framework/data/generator/sequence_packing/natten.py:488-495  ·  cosmos_framework/configs/base/experiment/sft/models/edge_model_config.py:38-57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35640" y="45720"/>
            <a:ext cx="914400" cy="914400"/>
          </a:xfrm>
          <a:prstGeom prst="ellipse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411480"/>
            <a:ext cx="411480" cy="411480"/>
          </a:xfrm>
          <a:prstGeom prst="ellipse">
            <a:avLst/>
          </a:prstGeom>
          <a:solidFill>
            <a:srgbClr val="8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320040"/>
            <a:ext cx="512064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14D9C4"/>
                </a:solidFill>
                <a:latin typeface="Microsoft YaHe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93192"/>
            <a:ext cx="54864" cy="219456"/>
          </a:xfrm>
          <a:prstGeom prst="rect">
            <a:avLst/>
          </a:prstGeom>
          <a:solidFill>
            <a:srgbClr val="14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56032"/>
            <a:ext cx="104698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3F7FB"/>
                </a:solidFill>
                <a:latin typeface="Microsoft YaHei"/>
              </a:rPr>
              <a:t>Takeaways｜判断一个“causal”配置的三问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DB0C3"/>
                </a:solidFill>
                <a:latin typeface="Microsoft YaHei"/>
              </a:rPr>
              <a:t>帧是否 clean？能看哪些帧？历史帧是什么噪声状态？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755648"/>
            <a:ext cx="3401568" cy="2029968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75104"/>
            <a:ext cx="493776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14D9C4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551176"/>
            <a:ext cx="299923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F3F7FB"/>
                </a:solidFill>
                <a:latin typeface="Microsoft YaHei"/>
              </a:rPr>
              <a:t>帧是否 clean？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081528"/>
            <a:ext cx="2999232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9DB0C3"/>
                </a:solidFill>
                <a:latin typeface="Microsoft YaHei"/>
              </a:rPr>
              <a:t>condition_frame_indexes_vision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755648"/>
            <a:ext cx="3401568" cy="2029968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975104"/>
            <a:ext cx="493776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8B7CFF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551176"/>
            <a:ext cx="299923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F3F7FB"/>
                </a:solidFill>
                <a:latin typeface="Microsoft YaHei"/>
              </a:rPr>
              <a:t>能看哪些帧？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081528"/>
            <a:ext cx="2999232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9DB0C3"/>
                </a:solidFill>
                <a:latin typeface="Microsoft YaHei"/>
              </a:rPr>
              <a:t>full vs temporal causal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755648"/>
            <a:ext cx="3401568" cy="2029968"/>
          </a:xfrm>
          <a:prstGeom prst="roundRect">
            <a:avLst/>
          </a:prstGeom>
          <a:solidFill>
            <a:srgbClr val="102235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975104"/>
            <a:ext cx="493776" cy="42062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300" b="1">
                <a:solidFill>
                  <a:srgbClr val="FF9F43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551176"/>
            <a:ext cx="2999232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F3F7FB"/>
                </a:solidFill>
                <a:latin typeface="Microsoft YaHei"/>
              </a:rPr>
              <a:t>历史是什么状态？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3081528"/>
            <a:ext cx="2999232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9DB0C3"/>
                </a:solidFill>
                <a:latin typeface="Microsoft YaHei"/>
              </a:rPr>
              <a:t>shared σ / per-frame σ / clean KV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4160520"/>
            <a:ext cx="10991088" cy="1444752"/>
          </a:xfrm>
          <a:prstGeom prst="roundRect">
            <a:avLst/>
          </a:prstGeom>
          <a:solidFill>
            <a:srgbClr val="142B42"/>
          </a:solidFill>
          <a:ln w="12700">
            <a:solidFill>
              <a:srgbClr val="2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480560"/>
            <a:ext cx="109728" cy="109728"/>
          </a:xfrm>
          <a:prstGeom prst="rect">
            <a:avLst/>
          </a:prstGeom>
          <a:solidFill>
            <a:srgbClr val="14D9C4"/>
          </a:solidFill>
          <a:ln w="12700">
            <a:solidFill>
              <a:srgbClr val="14D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416552"/>
            <a:ext cx="484632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F3F7FB"/>
                </a:solidFill>
                <a:latin typeface="Microsoft YaHei"/>
              </a:rPr>
              <a:t>V2V 条件由 condition_frame_indexes_vision 表达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4480560"/>
            <a:ext cx="109728" cy="109728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4416552"/>
            <a:ext cx="484632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F3F7FB"/>
                </a:solidFill>
                <a:latin typeface="Microsoft YaHei"/>
              </a:rPr>
              <a:t>Temporal causal 只管可见性；strategy 只管噪声或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010912"/>
            <a:ext cx="109728" cy="10972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4946904"/>
            <a:ext cx="484632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F3F7FB"/>
                </a:solidFill>
                <a:latin typeface="Microsoft YaHei"/>
              </a:rPr>
              <a:t>当前 teacher_forcing 未形成 clean-history 闭环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5010912"/>
            <a:ext cx="109728" cy="109728"/>
          </a:xfrm>
          <a:prstGeom prst="rect">
            <a:avLst/>
          </a:prstGeom>
          <a:solidFill>
            <a:srgbClr val="FF5C78"/>
          </a:solidFill>
          <a:ln w="12700">
            <a:solidFill>
              <a:srgbClr val="FF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946904"/>
            <a:ext cx="4846320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F3F7FB"/>
                </a:solidFill>
                <a:latin typeface="Microsoft YaHei"/>
              </a:rPr>
              <a:t>代码阅读顺序：Dataset → packing → training_step → attention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5925312"/>
            <a:ext cx="987552" cy="25603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14D9C4"/>
                </a:solidFill>
                <a:latin typeface="Microsoft YaHei"/>
              </a:rPr>
              <a:t>DISCUSSION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5870448"/>
            <a:ext cx="6839712" cy="329184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9DB0C3"/>
                </a:solidFill>
                <a:latin typeface="Microsoft YaHei"/>
              </a:rPr>
              <a:t>目标是联合去噪式 V2V，还是严格逐帧 causal generation？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6428232"/>
            <a:ext cx="11128248" cy="13716"/>
          </a:xfrm>
          <a:prstGeom prst="rect">
            <a:avLst/>
          </a:prstGeom>
          <a:solidFill>
            <a:srgbClr val="2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6473952"/>
            <a:ext cx="1077163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DB0C3"/>
                </a:solidFill>
                <a:latin typeface="Microsoft YaHei"/>
              </a:rPr>
              <a:t>cosmos_framework/data/generator/local_datasets/sft_dataset.py:348-359  ·  cosmos_framework/model/generator/omni_mot_model.py:768-802  ·  cosmos_framework/data/generator/sequence_packing/natten.py:448-495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55664"/>
            <a:ext cx="475488" cy="2011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14D9C4"/>
                </a:solidFill>
                <a:latin typeface="Microsoft YaHe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